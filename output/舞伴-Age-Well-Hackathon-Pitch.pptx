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human promise: 舞伴 makes healthy ageing feel joyful, social and self-directed.</a:t>
            </a:r>
          </a:p>
          <a:p>
            <a:r>
              <a:t>It is designed as a short game older adults can choose to repeat—not another assessment they must endure.</a:t>
            </a:r>
          </a:p>
          <a:p>
            <a:endParaRPr/>
          </a:p>
          <a:p>
            <a:r>
              <a:t>[Sources]</a:t>
            </a:r>
          </a:p>
          <a:p>
            <a:r>
              <a:t>/Users/kc/Work/DanceBros-Tencent/docs/PRODUCT_REQUIREMENTS.md</a:t>
            </a:r>
          </a:p>
          <a:p>
            <a:r>
              <a:t>/Users/kc/Work/DanceBros-Tencent/docs/product/user-personas.md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large population is living with mild cognitive impairment, but their quality of life is shaped every day—not only in formal assessment settings.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published cross-sectional study estimated 15.5% prevalence among adults aged 60+ in China, corresponding to 38.77 million people.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舞伴 addresses the everyday layer: activity, confidence, participation and connection. It does not diagnose MCI or replace clinical assessment.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https://pubmed.ncbi.nlm.nih.gov/33271079/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/Users/kc/Work/DanceBros-Tencent/docs/PRODUCT_REQUIREMENTS.md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/Users/kc/Work/DanceBros-Tencent/docs/adr/0003-wellness-claim-boundary.md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useful behaviour is wrapped in a four-minute ritual that has an immediate emotional payoff: the player moves, remembers, succeeds and finishes.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That repeatability is the social-good engine. It brings gentle physical activity and cognitive engagement into ordinary life in a form people can enjoy together.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screenshot is an authentic local product capture and remains visibly labelled SIMULATED.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/Users/kc/Work/DanceBros-Tencent/docs/PRODUCT_REQUIREMENTS.md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/Users/kc/Work/DanceBros-Tencent/docs/context/current-project-state.md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/Users/kc/Documents/Codex/2026-08-09/files-mentioned-by-the-user-codex/.codex-agewell-revision.nujoLQ/template-inspect/assets/ppt/media/image1.png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For people living with MCI, life should not narrow into a sequence of tests. 舞伴 gives them a way to move, think, choose and participate with others.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product aligns with healthy-ageing behaviours highlighted in WHO guidance: physical activity, cognitive engagement and social participation.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Standing play is bounded and pausable; seated play has its own hand gestures and calibration. This is a wellness experience, not treatment or screening.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https://www.who.int/publications/i/item/9789240123557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https://www.who.int/news-room/fact-sheets/detail/dementia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/Users/kc/Work/DanceBros-Tencent/docs/PRODUCT_REQUIREMENTS.md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/Users/kc/Work/DanceBros-Tencent/docs/product/user-personas.md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difficult session can reflect fatigue, discomfort, lighting, tracking or an unfamiliar rhythm. It should never be treated as evidence of decline.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舞伴 uses only complete, clear sessions and compares the player with their own usual pattern. The purpose is to support a kinder human conversation—not produce a diagnosis, risk score or clinical threshold.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on-screen history remains explicitly simulated.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/Users/kc/Work/DanceBros-Tencent/docs/PRODUCT_REQUIREMENTS.md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/Users/kc/Work/DanceBros-Tencent/docs/adr/0003-wellness-claim-boundary.md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/Users/kc/Work/DanceBros-Tencent/docs/context/domain-knowledge.md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/Users/kc/Documents/Codex/2026-08-09/files-mentioned-by-the-user-codex/.codex-agewell-revision.nujoLQ/template-inspect/assets/ppt/media/image3.png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product's value is social as well as personal.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older adult gains activity, agency and confidence. Family gains a calmer reason to connect. Community facilitators gain a low-friction shared activity that can help people participate together.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sharing model is a consented check-in, not a health alert or a transfer of medical interpretation to the family.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https://www.who.int/health-topics/ageing/reducing-social-isolation-and-loneliness-among-older-people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/Users/kc/Work/DanceBros-Tencent/docs/product/user-personas.md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/Users/kc/Work/DanceBros-Tencent/docs/adr/0004-consented-caregiver-check-in.md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Privacy is not a technical footnote. It is what allows an older adult to play without feeling watched or graded.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Raw camera frames are processed in memory and discarded. Derived summaries stay local. Supporter sharing is separate, revocable and controlled by the older adult.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preserves dignity while still enabling a voluntary social check-in.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/Users/kc/Work/DanceBros-Tencent/docs/PRODUCT_REQUIREMENTS.md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/Users/kc/Work/DanceBros-Tencent/docs/adr/0004-consented-caregiver-check-in.md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/Users/kc/Documents/Codex/2026-08-09/files-mentioned-by-the-user-codex/.codex-agewell-revision.nujoLQ/template-inspect/assets/ppt/media/image4.png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Keep this technical explanation brief. AI-assisted perception makes the movement game responsive; deterministic scoring and explicit quality gates keep the interpretation explainable.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Core product flow is local: on-device pose/hand landmarks, audio-clock rhythm scoring, personal baselines and local summaries. Supporter sharing remains a separate adapter and consent decision.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not claim open submission gates as complete: real-camera validation, older-adult validation, final owner-account evidence and a real WeChat adapter remain field or owner gates.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/Users/kc/Work/DanceBros-Tencent/docs/context/current-project-state.md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/Users/kc/Work/DanceBros-Tencent/docs/PRODUCT_REQUIREMENTS.md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/Users/kc/Work/DanceBros-Tencent/docs/adr/0003-wellness-claim-boundary.md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/Users/kc/Work/DanceBros-Tencent/docs/adr/0004-consented-caregiver-check-in.md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a concrete ask: pilot 舞伴 with community centres, eldercare programmes and families.</a:t>
            </a:r>
          </a:p>
          <a:p>
            <a:r>
              <a:t>Measure whether a joyful four-minute ritual can help older adults move more, feel more capable and stay more connected—while preserving consent and dignity.</a:t>
            </a:r>
          </a:p>
          <a:p>
            <a:r>
              <a:t>The ambition is social good in daily life, not another clinical score.</a:t>
            </a:r>
          </a:p>
          <a:p>
            <a:endParaRPr/>
          </a:p>
          <a:p>
            <a:r>
              <a:t>[Sources]</a:t>
            </a:r>
          </a:p>
          <a:p>
            <a:r>
              <a:t>/Users/kc/Work/DanceBros-Tencent/docs/PRODUCT_REQUIREMENTS.md</a:t>
            </a:r>
          </a:p>
          <a:p>
            <a:r>
              <a:t>/Users/kc/Work/DanceBros-Tencent/docs/product/user-personas.md</a:t>
            </a:r>
          </a:p>
          <a:p>
            <a:r>
              <a:t>/Users/kc/Work/DanceBros-Tencent/docs/context/current-project-state.md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>
            <a:noAutofit/>
          </a:bodyPr>
          <a:lstStyle/>
          <a:p>
            <a:r>
              <a:rPr sz="7200"/>
              <a:t>舞伴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742208"/>
            <a:ext cx="5702301" cy="108024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800"/>
              <a:t>Ageing well should feel like joining a dance—not taking a test.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noGrp="1"/>
          </p:cNvSpPr>
          <p:nvPr/>
        </p:nvSpPr>
        <p:spPr>
          <a:xfrm>
            <a:off x="393700" y="392241"/>
            <a:ext cx="5702300" cy="64915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800"/>
              <a:t>TENCENT AGE WELL · GAME TRACK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E2598689-54C9-18A7-3A19-ED76AA08988F}" type="slidenum">
              <a:rPr/>
              <a:t>2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68" y="344043"/>
            <a:ext cx="11404568" cy="1047464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38.77 million people.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noGrp="1"/>
          </p:cNvSpPr>
          <p:nvPr/>
        </p:nvSpPr>
        <p:spPr>
          <a:xfrm>
            <a:off x="397013" y="3339053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noGrp="1"/>
          </p:cNvSpPr>
          <p:nvPr/>
        </p:nvSpPr>
        <p:spPr>
          <a:xfrm>
            <a:off x="694248" y="3587937"/>
            <a:ext cx="4986886" cy="87778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4"/>
              </a:spcAft>
              <a:buNone/>
            </a:pPr>
            <a:r>
              <a:rPr sz="1275">
                <a:latin typeface="Helvetica Neue Medium"/>
                <a:ea typeface="Helvetica Neue Medium"/>
                <a:cs typeface="Helvetica Neue Medium"/>
              </a:rPr>
              <a:t>FOR THE PERSON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More reasons to move, think, participate and feel capable.</a:t>
            </a: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noGrp="1"/>
          </p:cNvSpPr>
          <p:nvPr/>
        </p:nvSpPr>
        <p:spPr>
          <a:xfrm>
            <a:off x="694248" y="4828582"/>
            <a:ext cx="5236652" cy="9779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8" indent="-12">
              <a:spcAft>
                <a:spcPts val="3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 Joy before judgement</a:t>
            </a:r>
          </a:p>
          <a:p>
            <a:pPr marL="18" indent="-12">
              <a:spcAft>
                <a:spcPts val="3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 A routine worth returning to</a:t>
            </a:r>
          </a:p>
          <a:p>
            <a:pPr marL="18" indent="-12">
              <a:spcAft>
                <a:spcPts val="3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 Standing or seated participation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noGrp="1"/>
          </p:cNvSpPr>
          <p:nvPr/>
        </p:nvSpPr>
        <p:spPr>
          <a:xfrm>
            <a:off x="6260785" y="3339053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noGrp="1"/>
          </p:cNvSpPr>
          <p:nvPr/>
        </p:nvSpPr>
        <p:spPr>
          <a:xfrm>
            <a:off x="6558020" y="3587937"/>
            <a:ext cx="4986886" cy="87778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4"/>
              </a:spcAft>
              <a:buNone/>
            </a:pPr>
            <a:r>
              <a:rPr sz="1275">
                <a:latin typeface="Helvetica Neue Medium"/>
                <a:ea typeface="Helvetica Neue Medium"/>
                <a:cs typeface="Helvetica Neue Medium"/>
              </a:rPr>
              <a:t>FOR THE CIRCLE OF CARE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shared activity and a calmer reason to stay connected.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noGrp="1"/>
          </p:cNvSpPr>
          <p:nvPr/>
        </p:nvSpPr>
        <p:spPr>
          <a:xfrm>
            <a:off x="6558020" y="4828582"/>
            <a:ext cx="5236652" cy="9779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8" indent="-12">
              <a:spcAft>
                <a:spcPts val="3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 Family connection</a:t>
            </a:r>
          </a:p>
          <a:p>
            <a:pPr marL="18" indent="-12">
              <a:spcAft>
                <a:spcPts val="3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 Community participation</a:t>
            </a:r>
          </a:p>
          <a:p>
            <a:pPr marL="18" indent="-12">
              <a:spcAft>
                <a:spcPts val="3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 Earlier human conversation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noGrp="1"/>
          </p:cNvSpPr>
          <p:nvPr/>
        </p:nvSpPr>
        <p:spPr>
          <a:xfrm>
            <a:off x="400939" y="1157513"/>
            <a:ext cx="11404599" cy="162922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8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EVERYDAY SUPPORT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national study estimated that 15.5% of adults aged 60+ in China live with MCI—about 38.77 million people. Their dignity, activity and connection matter every day.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Picture 53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38550" y="1381125"/>
            <a:ext cx="8448675" cy="5219700"/>
          </a:xfrm>
          <a:prstGeom prst="roundRect">
            <a:avLst/>
          </a:prstGeom>
        </p:spPr>
      </p:pic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b">
            <a:noAutofit/>
          </a:bodyPr>
          <a:lstStyle/>
          <a:p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68" y="344043"/>
            <a:ext cx="11404568" cy="1047464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舞伴 turns healthy ageing into something people want to repeat.</a:t>
            </a:r>
          </a:p>
        </p:txBody>
      </p:sp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noGrp="1"/>
          </p:cNvSpPr>
          <p:nvPr/>
        </p:nvSpPr>
        <p:spPr>
          <a:xfrm>
            <a:off x="785813" y="1524000"/>
            <a:ext cx="2571750" cy="447675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8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ONE FOUR-MINUTE RITUAL</a:t>
            </a:r>
          </a:p>
          <a:p>
            <a:pPr marL="0" indent="0">
              <a:spcAft>
                <a:spcPts val="1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Move gently. Follow the rhythm. Remember short patterns. Finish with a sense of achievement.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Every session brings physical activity, cognitive engagement and joy into the day.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EFD6AB9A-5F9E-5F59-51AB-3C8734130965}" type="slidenum">
              <a:t>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68" y="344043"/>
            <a:ext cx="11404568" cy="1047464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People living with MCI deserve more than another test.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8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MOVE + THINK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Gentle steps add physical activity. Rhythm, sequence recall and “freeze” cues engage attention and memory—without a clinical score.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8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CONNECT + CHOOSE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Play beside family, friends or a community group. A genuine seated hand-gesture path keeps participation open.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b">
            <a:noAutofit/>
          </a:bodyPr>
          <a:lstStyle/>
          <a:p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68" y="344043"/>
            <a:ext cx="11404568" cy="1047464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A routine creates context that one isolated moment cannot.</a:t>
            </a:r>
          </a:p>
        </p:txBody>
      </p:sp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noGrp="1"/>
          </p:cNvSpPr>
          <p:nvPr/>
        </p:nvSpPr>
        <p:spPr>
          <a:xfrm>
            <a:off x="785813" y="1524000"/>
            <a:ext cx="2571750" cy="447675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8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PROGRESS WITHOUT JUDGEMENT</a:t>
            </a:r>
          </a:p>
          <a:p>
            <a:pPr marL="0" indent="0">
              <a:spcAft>
                <a:spcPts val="1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舞伴 compares each person only with their own usual rhythm—not with a population score.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Repeated, clear sessions can support an earlier human conversation. Never a diagnosis or judgement.</a:t>
            </a:r>
          </a:p>
        </p:txBody>
      </p:sp>
      <p:pic>
        <p:nvPicPr>
          <p:cNvPr id="538" name="Picture 53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38550" y="1381125"/>
            <a:ext cx="8448675" cy="52197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8C630A04-5A25-9E0C-9436-126091DB86B3}" type="slidenum">
              <a:t>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68" y="344043"/>
            <a:ext cx="11404568" cy="1047464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One joyful ritual strengthens a circle of care.</a:t>
            </a:r>
          </a:p>
        </p:txBody>
      </p:sp>
      <p:sp>
        <p:nvSpPr>
          <p:cNvPr id="5" name="Google Shape;558;p61">
            <a:extLst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noGrp="1"/>
          </p:cNvSpPr>
          <p:nvPr/>
        </p:nvSpPr>
        <p:spPr>
          <a:xfrm>
            <a:off x="3937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7"/>
              </a:spcAft>
              <a:buNone/>
            </a:pPr>
            <a:r>
              <a:rPr sz="1650">
                <a:latin typeface="Helvetica Neue Medium"/>
                <a:ea typeface="Helvetica Neue Medium"/>
                <a:cs typeface="Helvetica Neue Medium"/>
              </a:rPr>
              <a:t>OLDER ADULT</a:t>
            </a:r>
          </a:p>
          <a:p>
            <a:pPr marL="0" indent="0">
              <a:spcAft>
                <a:spcPts val="0"/>
              </a:spcAft>
              <a:buNone/>
            </a:pPr>
            <a:r>
              <a:rPr sz="1650">
                <a:latin typeface="Helvetica Neue"/>
                <a:ea typeface="Helvetica Neue"/>
                <a:cs typeface="Helvetica Neue"/>
              </a:rPr>
              <a:t>More movement, agency and confidence—without a test result or health grade.</a:t>
            </a:r>
          </a:p>
        </p:txBody>
      </p:sp>
      <p:sp>
        <p:nvSpPr>
          <p:cNvPr id="6" name="Google Shape;559;p61">
            <a:extLst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noGrp="1"/>
          </p:cNvSpPr>
          <p:nvPr/>
        </p:nvSpPr>
        <p:spPr>
          <a:xfrm>
            <a:off x="43180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7"/>
              </a:spcAft>
              <a:buNone/>
            </a:pPr>
            <a:r>
              <a:rPr sz="1650">
                <a:latin typeface="Helvetica Neue Medium"/>
                <a:ea typeface="Helvetica Neue Medium"/>
                <a:cs typeface="Helvetica Neue Medium"/>
              </a:rPr>
              <a:t>FAMILY + SUPPORTER</a:t>
            </a:r>
          </a:p>
          <a:p>
            <a:pPr marL="0" indent="0">
              <a:spcAft>
                <a:spcPts val="0"/>
              </a:spcAft>
              <a:buNone/>
            </a:pPr>
            <a:r>
              <a:rPr sz="1650">
                <a:latin typeface="Helvetica Neue"/>
                <a:ea typeface="Helvetica Neue"/>
                <a:cs typeface="Helvetica Neue"/>
              </a:rPr>
              <a:t>A calmer reason to call, visit and listen—without interpreting medical data.</a:t>
            </a:r>
          </a:p>
        </p:txBody>
      </p:sp>
      <p:sp>
        <p:nvSpPr>
          <p:cNvPr id="7" name="Google Shape;560;p61">
            <a:extLst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noGrp="1"/>
          </p:cNvSpPr>
          <p:nvPr/>
        </p:nvSpPr>
        <p:spPr>
          <a:xfrm>
            <a:off x="8232273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7"/>
              </a:spcAft>
              <a:buNone/>
            </a:pPr>
            <a:r>
              <a:rPr sz="1650">
                <a:latin typeface="Helvetica Neue Medium"/>
                <a:ea typeface="Helvetica Neue Medium"/>
                <a:cs typeface="Helvetica Neue Medium"/>
              </a:rPr>
              <a:t>COMMUNITY</a:t>
            </a:r>
          </a:p>
          <a:p>
            <a:pPr marL="0" indent="0">
              <a:spcAft>
                <a:spcPts val="0"/>
              </a:spcAft>
              <a:buNone/>
            </a:pPr>
            <a:r>
              <a:rPr sz="1650">
                <a:latin typeface="Helvetica Neue"/>
                <a:ea typeface="Helvetica Neue"/>
                <a:cs typeface="Helvetica Neue"/>
              </a:rPr>
              <a:t>One inclusive activity for movement, memory and social connection—with low setup.</a:t>
            </a:r>
          </a:p>
        </p:txBody>
      </p:sp>
      <p:sp>
        <p:nvSpPr>
          <p:cNvPr id="8" name="Google Shape;561;p61">
            <a:extLst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noGrp="1"/>
          </p:cNvSpPr>
          <p:nvPr/>
        </p:nvSpPr>
        <p:spPr>
          <a:xfrm>
            <a:off x="4279904" y="3382303"/>
            <a:ext cx="315580" cy="353873"/>
          </a:xfrm>
          <a:custGeom>
            <a:avLst/>
            <a:gdLst/>
            <a:ahLst/>
            <a:cxnLst/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>
            <a:noAutofit/>
          </a:bodyPr>
          <a:lstStyle/>
          <a:p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noGrp="1"/>
          </p:cNvSpPr>
          <p:nvPr/>
        </p:nvSpPr>
        <p:spPr>
          <a:xfrm>
            <a:off x="401398" y="3378212"/>
            <a:ext cx="327078" cy="362074"/>
          </a:xfrm>
          <a:custGeom>
            <a:avLst/>
            <a:gdLst/>
            <a:ahLst/>
            <a:cxnLst/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>
            <a:noAutofit/>
          </a:bodyPr>
          <a:lstStyle/>
          <a:p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noGrp="1"/>
          </p:cNvSpPr>
          <p:nvPr/>
        </p:nvSpPr>
        <p:spPr>
          <a:xfrm>
            <a:off x="8231597" y="3406849"/>
            <a:ext cx="338580" cy="27091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>
            <a:noAutofit/>
          </a:bodyPr>
          <a:lstStyle/>
          <a:p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b">
            <a:noAutofit/>
          </a:bodyPr>
          <a:lstStyle/>
          <a:p>
            <a:fld id="{D3D7D1C8-AE23-AA48-DF65-C742588DBE47}" type="slidenum">
              <a:t>7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68" y="344043"/>
            <a:ext cx="11404568" cy="1047464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Dignity requires trust.</a:t>
            </a:r>
          </a:p>
        </p:txBody>
      </p:sp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noGrp="1"/>
          </p:cNvSpPr>
          <p:nvPr/>
        </p:nvSpPr>
        <p:spPr>
          <a:xfrm>
            <a:off x="785813" y="1524000"/>
            <a:ext cx="2571750" cy="447675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8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PRIVACY IS PART OF THE BENEFIT</a:t>
            </a:r>
          </a:p>
          <a:p>
            <a:pPr marL="0" indent="0">
              <a:spcAft>
                <a:spcPts val="1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Camera frames are processed in memory and discarded. Only derived session summaries stay local.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Sharing is separate, revocable and always controlled by the older adult.</a:t>
            </a:r>
          </a:p>
        </p:txBody>
      </p:sp>
      <p:pic>
        <p:nvPicPr>
          <p:cNvPr id="538" name="Picture 53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38550" y="1381125"/>
            <a:ext cx="8448675" cy="52197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BA58DA2A-B818-18A9-29C1-B697728D5BCE}" type="slidenum">
              <a:t>8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68" y="344043"/>
            <a:ext cx="11404568" cy="1047464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AI powers the experience. Human values govern it.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 BRIEF TECHNICAL VIEW</a:t>
            </a: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On-device pose + hand landmarks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noGrp="1"/>
          </p:cNvSpPr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On-device pose and hand landmarks make the game responsive without sending video to a backend. Explainable scoring, quality gates and personal baselines keep the experience transparent.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noGrp="1"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Audio-clock rhythm scoring</a:t>
            </a:r>
          </a:p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noGrp="1"/>
          </p:cNvSpPr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noGrp="1"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Clear-session quality gate</a:t>
            </a: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noGrp="1"/>
          </p:cNvSpPr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noGrp="1"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Personal baseline, not population rank</a:t>
            </a: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noGrp="1"/>
          </p:cNvSpPr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noGrp="1"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Local summaries + consented sharing</a:t>
            </a: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noGrp="1"/>
          </p:cNvSpPr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2579914"/>
            <a:ext cx="9448800" cy="3624272"/>
          </a:xfrm>
        </p:spPr>
        <p:txBody>
          <a:bodyPr>
            <a:noAutofit/>
          </a:bodyPr>
          <a:lstStyle/>
          <a:p>
            <a:r>
              <a:rPr sz="7200" dirty="0"/>
              <a:t>Help more older adults move,</a:t>
            </a:r>
          </a:p>
          <a:p>
            <a:r>
              <a:rPr sz="7200" dirty="0"/>
              <a:t>remember and stay connected.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noGrp="1"/>
          </p:cNvSpPr>
          <p:nvPr/>
        </p:nvSpPr>
        <p:spPr>
          <a:xfrm>
            <a:off x="393699" y="392241"/>
            <a:ext cx="6157826" cy="64915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800"/>
              <a:t>舞伴</a:t>
            </a: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noGrp="1"/>
          </p:cNvSpPr>
          <p:nvPr/>
        </p:nvSpPr>
        <p:spPr>
          <a:xfrm>
            <a:off x="7886700" y="392241"/>
            <a:ext cx="3911600" cy="64915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/>
              <a:t>PILOT: CENTRES · CARE · FAMILIES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1604</Words>
  <Application>Microsoft Macintosh PowerPoint</Application>
  <DocSecurity>0</DocSecurity>
  <PresentationFormat>Widescreen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Helvetica Neue</vt:lpstr>
      <vt:lpstr>Helvetica Neue Medium</vt:lpstr>
      <vt:lpstr>Default Codex Theme</vt:lpstr>
      <vt:lpstr>舞伴</vt:lpstr>
      <vt:lpstr>38.77 million people.</vt:lpstr>
      <vt:lpstr>舞伴 turns healthy ageing into something people want to repeat.</vt:lpstr>
      <vt:lpstr>People living with MCI deserve more than another test.</vt:lpstr>
      <vt:lpstr>A routine creates context that one isolated moment cannot.</vt:lpstr>
      <vt:lpstr>One joyful ritual strengthens a circle of care.</vt:lpstr>
      <vt:lpstr>Dignity requires trust.</vt:lpstr>
      <vt:lpstr>AI powers the experience. Human values govern it.</vt:lpstr>
      <vt:lpstr>Help more older adults move, remember and stay connected.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Kei Ching Ho</cp:lastModifiedBy>
  <cp:revision>1</cp:revision>
  <dcterms:created xsi:type="dcterms:W3CDTF">2026-08-09T06:19:48Z</dcterms:created>
  <dcterms:modified xsi:type="dcterms:W3CDTF">2026-08-09T06:22:39Z</dcterms:modified>
</cp:coreProperties>
</file>